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1425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1711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689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5976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53795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9744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94209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97884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99287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50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11049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770D20B-62B7-4DA6-9D56-532E1768BF34}" type="datetimeFigureOut">
              <a:rPr lang="es-PE" smtClean="0"/>
              <a:t>7/04/2026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1FA2891-7CCE-4CAD-967B-683C2BC1B30F}" type="slidenum">
              <a:rPr lang="es-PE" smtClean="0"/>
              <a:t>‹Nº›</a:t>
            </a:fld>
            <a:endParaRPr lang="es-P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507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58CE3-AF54-DA78-0D78-420CD8D871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MX" dirty="0"/>
              <a:t>Pruebas y aseguramiento de calidad de software</a:t>
            </a:r>
            <a:endParaRPr lang="es-PE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C4C9967-35E2-D1C5-1A31-80065A309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Semana 1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44167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52127-BFF0-3640-819B-C63551D52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Calidad del software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7EE15E-5B90-4E79-9A9D-597BBC819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800" dirty="0"/>
              <a:t>La calidad del software no debe reducirse a “que no tenga errores”. En el contexto profesional, un producto es de calidad cuando cumple su propósito funcional, responde en tiempos aceptables, protege la información, es usable, mantenible y puede operar en el contexto previsto.</a:t>
            </a:r>
          </a:p>
          <a:p>
            <a:r>
              <a:rPr lang="es-MX" sz="2800" dirty="0"/>
              <a:t>Por ello, la calidad no se evalúa solo al final; debe construirse desde los requisitos, el diseño, la codificación, la revisión y las pruebas. Esta idea es central para que el estudiante comprenda por qué “probar” no equivale por sí solo a “asegurar la calidad”.</a:t>
            </a:r>
            <a:endParaRPr lang="es-PE" sz="2800" dirty="0"/>
          </a:p>
        </p:txBody>
      </p:sp>
    </p:spTree>
    <p:extLst>
      <p:ext uri="{BB962C8B-B14F-4D97-AF65-F5344CB8AC3E}">
        <p14:creationId xmlns:p14="http://schemas.microsoft.com/office/powerpoint/2010/main" val="131193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EDD2C9-05E8-31C0-D0A2-EFD5EC76B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DDCD2E0-AD2F-B92D-3475-6C43C976D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86603"/>
            <a:ext cx="10220960" cy="6003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19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2ED4A3-190A-3393-4327-133B5062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005A06-A916-9F96-B77A-34ECD1054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4511" y="286603"/>
            <a:ext cx="10954209" cy="653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589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3DCF4-899E-306A-4018-224BE976C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Diferencia</a:t>
            </a:r>
            <a:r>
              <a:rPr lang="en-US" dirty="0"/>
              <a:t> entre QA, QC y testing</a:t>
            </a:r>
            <a:endParaRPr lang="es-PE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8221D3-F5A3-259E-0469-C211473B30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s-MX" b="1" dirty="0"/>
              <a:t>Aseguramiento de la calidad </a:t>
            </a:r>
            <a:r>
              <a:rPr lang="es-MX" dirty="0"/>
              <a:t>(QA): conjunto de actividades orientadas a dar confianza de que se cumplirán los requisitos de calidad. Tiene un enfoque preventivo y de proceso. Ejemplos: políticas de revisión, estándares de codificación, definición de “done”, capacitación, auditorías internas, uso de </a:t>
            </a:r>
            <a:r>
              <a:rPr lang="es-MX" dirty="0" err="1"/>
              <a:t>checklists</a:t>
            </a:r>
            <a:r>
              <a:rPr lang="es-MX" dirty="0"/>
              <a:t> y mejora continua.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b="1" dirty="0"/>
              <a:t>Control de calidad </a:t>
            </a:r>
            <a:r>
              <a:rPr lang="es-MX" dirty="0"/>
              <a:t>(QC): actividades dirigidas a evaluar la calidad de un componente o sistema. Tiene un enfoque de evaluación del producto o del resultado. Ejemplos: ejecución de pruebas, revisión de resultados, análisis de defectos, medición de cobertura y verificación de conformidad.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b="1" dirty="0" err="1"/>
              <a:t>Testing</a:t>
            </a:r>
            <a:r>
              <a:rPr lang="es-MX" dirty="0"/>
              <a:t>: subconjunto clave del control de calidad. Se diseñan y ejecutan para encontrar defectos, reducir riesgos y generar evidencia de cumplimiento. En clase es importante remarcar que las pruebas son necesarias, pero no suficientes para garantizar calidad por sí solas.</a:t>
            </a:r>
          </a:p>
          <a:p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993473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BA903-283C-A918-98DE-C217DDDFD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PE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38205C2-54E6-B560-0BA5-65A9636311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9317" y="206692"/>
            <a:ext cx="11223104" cy="574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50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618E6B-F773-6EAE-FD4D-ADA15AA56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b="1" dirty="0"/>
              <a:t>Caso guía para la sesión: sistema de matrícula universitaria</a:t>
            </a:r>
            <a:endParaRPr lang="es-PE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ACEC096-F698-C274-DE19-AF0505D580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061956"/>
              </p:ext>
            </p:extLst>
          </p:nvPr>
        </p:nvGraphicFramePr>
        <p:xfrm>
          <a:off x="394652" y="1903413"/>
          <a:ext cx="10761027" cy="166243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098">
                  <a:extLst>
                    <a:ext uri="{9D8B030D-6E8A-4147-A177-3AD203B41FA5}">
                      <a16:colId xmlns:a16="http://schemas.microsoft.com/office/drawing/2014/main" val="2420318582"/>
                    </a:ext>
                  </a:extLst>
                </a:gridCol>
                <a:gridCol w="9341929">
                  <a:extLst>
                    <a:ext uri="{9D8B030D-6E8A-4147-A177-3AD203B41FA5}">
                      <a16:colId xmlns:a16="http://schemas.microsoft.com/office/drawing/2014/main" val="35694827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R1</a:t>
                      </a:r>
                      <a:endParaRPr lang="es-PE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El estudiante debe poder matricularse desde la web sin errores de duplicidad de cursos.</a:t>
                      </a:r>
                      <a:endParaRPr lang="es-PE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306562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R2</a:t>
                      </a:r>
                      <a:endParaRPr lang="es-PE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El sistema debe responder en menos de 2 segundos para 500 usuarios concurrentes durante el primer día de matrícula.</a:t>
                      </a:r>
                      <a:endParaRPr lang="es-PE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2425822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R3</a:t>
                      </a:r>
                      <a:endParaRPr lang="es-PE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Solo usuarios autorizados podrán acceder al historial académico y a la ficha del estudiante.</a:t>
                      </a:r>
                      <a:endParaRPr lang="es-PE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38724721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R4</a:t>
                      </a:r>
                      <a:endParaRPr lang="es-PE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La matrícula registrada no debe perderse si un nodo del sistema falla.</a:t>
                      </a:r>
                      <a:endParaRPr lang="es-PE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1091871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R5</a:t>
                      </a:r>
                      <a:endParaRPr lang="es-PE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400" kern="0" dirty="0">
                          <a:effectLst/>
                        </a:rPr>
                        <a:t>El </a:t>
                      </a:r>
                      <a:r>
                        <a:rPr lang="en-US" sz="1400" kern="0" dirty="0" err="1">
                          <a:effectLst/>
                        </a:rPr>
                        <a:t>flujo</a:t>
                      </a:r>
                      <a:r>
                        <a:rPr lang="en-US" sz="1400" kern="0" dirty="0">
                          <a:effectLst/>
                        </a:rPr>
                        <a:t> principal </a:t>
                      </a:r>
                      <a:r>
                        <a:rPr lang="en-US" sz="1400" kern="0" dirty="0" err="1">
                          <a:effectLst/>
                        </a:rPr>
                        <a:t>debe</a:t>
                      </a:r>
                      <a:r>
                        <a:rPr lang="en-US" sz="1400" kern="0" dirty="0">
                          <a:effectLst/>
                        </a:rPr>
                        <a:t> ser </a:t>
                      </a:r>
                      <a:r>
                        <a:rPr lang="en-US" sz="1400" kern="0" dirty="0" err="1">
                          <a:effectLst/>
                        </a:rPr>
                        <a:t>comprensible</a:t>
                      </a:r>
                      <a:r>
                        <a:rPr lang="en-US" sz="1400" kern="0" dirty="0">
                          <a:effectLst/>
                        </a:rPr>
                        <a:t> para </a:t>
                      </a:r>
                      <a:r>
                        <a:rPr lang="en-US" sz="1400" kern="0" dirty="0" err="1">
                          <a:effectLst/>
                        </a:rPr>
                        <a:t>estudiantes</a:t>
                      </a:r>
                      <a:r>
                        <a:rPr lang="en-US" sz="1400" kern="0" dirty="0">
                          <a:effectLst/>
                        </a:rPr>
                        <a:t> de primer </a:t>
                      </a:r>
                      <a:r>
                        <a:rPr lang="en-US" sz="1400" kern="0" dirty="0" err="1">
                          <a:effectLst/>
                        </a:rPr>
                        <a:t>ciclo</a:t>
                      </a:r>
                      <a:r>
                        <a:rPr lang="en-US" sz="1400" kern="0" dirty="0">
                          <a:effectLst/>
                        </a:rPr>
                        <a:t> sin </a:t>
                      </a:r>
                      <a:r>
                        <a:rPr lang="en-US" sz="1400" kern="0" dirty="0" err="1">
                          <a:effectLst/>
                        </a:rPr>
                        <a:t>entrenamiento</a:t>
                      </a:r>
                      <a:r>
                        <a:rPr lang="en-US" sz="1400" kern="0" dirty="0">
                          <a:effectLst/>
                        </a:rPr>
                        <a:t> </a:t>
                      </a:r>
                      <a:r>
                        <a:rPr lang="en-US" sz="1400" kern="0" dirty="0" err="1">
                          <a:effectLst/>
                        </a:rPr>
                        <a:t>previo</a:t>
                      </a:r>
                      <a:r>
                        <a:rPr lang="en-US" sz="1400" kern="0" dirty="0">
                          <a:effectLst/>
                        </a:rPr>
                        <a:t>.</a:t>
                      </a:r>
                      <a:endParaRPr lang="es-PE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133627181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6617A149-ABA5-29EA-ED3C-58DEDFF2E7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873531"/>
            <a:ext cx="505968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R1 se asocia principalmente con adecuación funcional y también con integridad de reglas de negocio.</a:t>
            </a:r>
            <a:endParaRPr kumimoji="0" lang="es-PE" altLang="es-P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R2 se relaciona con eficiencia del desempeño.</a:t>
            </a:r>
            <a:endParaRPr kumimoji="0" lang="es-PE" altLang="es-P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R3 se vincula con seguridad.</a:t>
            </a:r>
            <a:endParaRPr kumimoji="0" lang="es-PE" altLang="es-P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R4 se relaciona con fiabilidad.</a:t>
            </a:r>
            <a:endParaRPr kumimoji="0" lang="es-PE" altLang="es-P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 R5 se asocia con usabilidad.</a:t>
            </a:r>
            <a:endParaRPr kumimoji="0" lang="es-PE" altLang="es-P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6B2589BA-5208-195D-4CED-1F385B894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3873531"/>
            <a:ext cx="610616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Revisar la especificación del flujo de matrícula, inspeccionar reglas de prerrequisitos o ejecutar pruebas unitarias sobre la validación de duplicidad son ejemplos de verificación.</a:t>
            </a:r>
            <a:endParaRPr kumimoji="0" lang="es-PE" altLang="es-P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PE" altLang="es-PE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Solicitar a un grupo piloto de estudiantes que use el sistema y confirmar que el flujo satisface sus necesidades de matrícula es un ejemplo de validación.</a:t>
            </a:r>
            <a:endParaRPr kumimoji="0" lang="es-PE" altLang="es-PE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9242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030F12-602C-B508-60BF-C497555DC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Actividad en Aula</a:t>
            </a:r>
            <a:endParaRPr lang="es-PE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BAC834B8-290D-16A6-6C75-693B23BA2B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2354773"/>
              </p:ext>
            </p:extLst>
          </p:nvPr>
        </p:nvGraphicFramePr>
        <p:xfrm>
          <a:off x="1239520" y="1940560"/>
          <a:ext cx="9916160" cy="42574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00960">
                  <a:extLst>
                    <a:ext uri="{9D8B030D-6E8A-4147-A177-3AD203B41FA5}">
                      <a16:colId xmlns:a16="http://schemas.microsoft.com/office/drawing/2014/main" val="862214986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3253030869"/>
                    </a:ext>
                  </a:extLst>
                </a:gridCol>
              </a:tblGrid>
              <a:tr h="111414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Propósito</a:t>
                      </a:r>
                      <a:endParaRPr lang="es-PE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Aplicar los conceptos vistos para identificar atributos de calidad y distinguir verificación de validación a partir de un caso.</a:t>
                      </a:r>
                      <a:endParaRPr lang="es-PE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1994939631"/>
                  </a:ext>
                </a:extLst>
              </a:tr>
              <a:tr h="4575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Organización</a:t>
                      </a:r>
                      <a:endParaRPr lang="es-PE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Equipos de 3 o 4 estudiantes.</a:t>
                      </a:r>
                      <a:endParaRPr lang="es-PE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3748214822"/>
                  </a:ext>
                </a:extLst>
              </a:tr>
              <a:tr h="144245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Instrucciones</a:t>
                      </a:r>
                      <a:endParaRPr lang="es-PE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Cada equipo analiza los requisitos del sistema de matrícula y completa una matriz con tres columnas: atributo de calidad, actividad de verificación y actividad de validación.</a:t>
                      </a:r>
                      <a:endParaRPr lang="es-PE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347162362"/>
                  </a:ext>
                </a:extLst>
              </a:tr>
              <a:tr h="45751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Tiempo</a:t>
                      </a:r>
                      <a:endParaRPr lang="es-PE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20 minutos.</a:t>
                      </a:r>
                      <a:endParaRPr lang="es-PE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3492860557"/>
                  </a:ext>
                </a:extLst>
              </a:tr>
              <a:tr h="78582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>
                          <a:effectLst/>
                        </a:rPr>
                        <a:t>Producto</a:t>
                      </a:r>
                      <a:endParaRPr lang="es-PE" sz="16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600" kern="0" dirty="0" err="1">
                          <a:effectLst/>
                        </a:rPr>
                        <a:t>Matriz</a:t>
                      </a:r>
                      <a:r>
                        <a:rPr lang="en-US" sz="1600" kern="0" dirty="0">
                          <a:effectLst/>
                        </a:rPr>
                        <a:t> breve del </a:t>
                      </a:r>
                      <a:r>
                        <a:rPr lang="en-US" sz="1600" kern="0" dirty="0" err="1">
                          <a:effectLst/>
                        </a:rPr>
                        <a:t>caso</a:t>
                      </a:r>
                      <a:r>
                        <a:rPr lang="en-US" sz="1600" kern="0" dirty="0">
                          <a:effectLst/>
                        </a:rPr>
                        <a:t> con </a:t>
                      </a:r>
                      <a:r>
                        <a:rPr lang="en-US" sz="1600" kern="0" dirty="0" err="1">
                          <a:effectLst/>
                        </a:rPr>
                        <a:t>justificación</a:t>
                      </a:r>
                      <a:r>
                        <a:rPr lang="en-US" sz="1600" kern="0" dirty="0">
                          <a:effectLst/>
                        </a:rPr>
                        <a:t> de al </a:t>
                      </a:r>
                      <a:r>
                        <a:rPr lang="en-US" sz="1600" kern="0" dirty="0" err="1">
                          <a:effectLst/>
                        </a:rPr>
                        <a:t>menos</a:t>
                      </a:r>
                      <a:r>
                        <a:rPr lang="en-US" sz="1600" kern="0" dirty="0">
                          <a:effectLst/>
                        </a:rPr>
                        <a:t> </a:t>
                      </a:r>
                      <a:r>
                        <a:rPr lang="en-US" sz="1600" kern="0" dirty="0" err="1">
                          <a:effectLst/>
                        </a:rPr>
                        <a:t>tres</a:t>
                      </a:r>
                      <a:r>
                        <a:rPr lang="en-US" sz="1600" kern="0" dirty="0">
                          <a:effectLst/>
                        </a:rPr>
                        <a:t> </a:t>
                      </a:r>
                      <a:r>
                        <a:rPr lang="en-US" sz="1600" kern="0" dirty="0" err="1">
                          <a:effectLst/>
                        </a:rPr>
                        <a:t>decisiones</a:t>
                      </a:r>
                      <a:r>
                        <a:rPr lang="en-US" sz="1600" kern="0" dirty="0">
                          <a:effectLst/>
                        </a:rPr>
                        <a:t> </a:t>
                      </a:r>
                      <a:r>
                        <a:rPr lang="en-US" sz="1600" kern="0" dirty="0" err="1">
                          <a:effectLst/>
                        </a:rPr>
                        <a:t>tomadas</a:t>
                      </a:r>
                      <a:r>
                        <a:rPr lang="en-US" sz="1600" kern="0" dirty="0">
                          <a:effectLst/>
                        </a:rPr>
                        <a:t> </a:t>
                      </a:r>
                      <a:r>
                        <a:rPr lang="en-US" sz="1600" kern="0" dirty="0" err="1">
                          <a:effectLst/>
                        </a:rPr>
                        <a:t>por</a:t>
                      </a:r>
                      <a:r>
                        <a:rPr lang="en-US" sz="1600" kern="0" dirty="0">
                          <a:effectLst/>
                        </a:rPr>
                        <a:t> </a:t>
                      </a:r>
                      <a:r>
                        <a:rPr lang="en-US" sz="1600" kern="0" dirty="0" err="1">
                          <a:effectLst/>
                        </a:rPr>
                        <a:t>el</a:t>
                      </a:r>
                      <a:r>
                        <a:rPr lang="en-US" sz="1600" kern="0" dirty="0">
                          <a:effectLst/>
                        </a:rPr>
                        <a:t> </a:t>
                      </a:r>
                      <a:r>
                        <a:rPr lang="en-US" sz="1600" kern="0" dirty="0" err="1">
                          <a:effectLst/>
                        </a:rPr>
                        <a:t>equipo</a:t>
                      </a:r>
                      <a:r>
                        <a:rPr lang="en-US" sz="1600" kern="0" dirty="0">
                          <a:effectLst/>
                        </a:rPr>
                        <a:t>.</a:t>
                      </a:r>
                      <a:endParaRPr lang="es-PE" sz="16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2072190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579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DAE8F38F-EEFE-CEC5-E35E-1F72FE8468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595359"/>
              </p:ext>
            </p:extLst>
          </p:nvPr>
        </p:nvGraphicFramePr>
        <p:xfrm>
          <a:off x="1097280" y="1828801"/>
          <a:ext cx="9885680" cy="38912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71420">
                  <a:extLst>
                    <a:ext uri="{9D8B030D-6E8A-4147-A177-3AD203B41FA5}">
                      <a16:colId xmlns:a16="http://schemas.microsoft.com/office/drawing/2014/main" val="559046257"/>
                    </a:ext>
                  </a:extLst>
                </a:gridCol>
                <a:gridCol w="2471420">
                  <a:extLst>
                    <a:ext uri="{9D8B030D-6E8A-4147-A177-3AD203B41FA5}">
                      <a16:colId xmlns:a16="http://schemas.microsoft.com/office/drawing/2014/main" val="787766194"/>
                    </a:ext>
                  </a:extLst>
                </a:gridCol>
                <a:gridCol w="2471420">
                  <a:extLst>
                    <a:ext uri="{9D8B030D-6E8A-4147-A177-3AD203B41FA5}">
                      <a16:colId xmlns:a16="http://schemas.microsoft.com/office/drawing/2014/main" val="4244934628"/>
                    </a:ext>
                  </a:extLst>
                </a:gridCol>
                <a:gridCol w="2471420">
                  <a:extLst>
                    <a:ext uri="{9D8B030D-6E8A-4147-A177-3AD203B41FA5}">
                      <a16:colId xmlns:a16="http://schemas.microsoft.com/office/drawing/2014/main" val="1171980043"/>
                    </a:ext>
                  </a:extLst>
                </a:gridCol>
              </a:tblGrid>
              <a:tr h="91174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Req.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Atributo de calidad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Actividad de verificación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Actividad de validación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1805153611"/>
                  </a:ext>
                </a:extLst>
              </a:tr>
              <a:tr h="9931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R1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2997990402"/>
                  </a:ext>
                </a:extLst>
              </a:tr>
              <a:tr h="9931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R2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1822683961"/>
                  </a:ext>
                </a:extLst>
              </a:tr>
              <a:tr h="9931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R3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 </a:t>
                      </a:r>
                      <a:endParaRPr lang="es-PE" sz="18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00"/>
                        </a:spcBef>
                        <a:spcAft>
                          <a:spcPts val="1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 </a:t>
                      </a:r>
                      <a:endParaRPr lang="es-PE" sz="18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9850" marR="69850" marT="57150" marB="57150" anchor="ctr"/>
                </a:tc>
                <a:extLst>
                  <a:ext uri="{0D108BD9-81ED-4DB2-BD59-A6C34878D82A}">
                    <a16:rowId xmlns:a16="http://schemas.microsoft.com/office/drawing/2014/main" val="3810222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557462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ción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</TotalTime>
  <Words>579</Words>
  <Application>Microsoft Office PowerPoint</Application>
  <PresentationFormat>Panorámica</PresentationFormat>
  <Paragraphs>54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Retrospección</vt:lpstr>
      <vt:lpstr>Pruebas y aseguramiento de calidad de software</vt:lpstr>
      <vt:lpstr>Calidad del software</vt:lpstr>
      <vt:lpstr>Presentación de PowerPoint</vt:lpstr>
      <vt:lpstr>Presentación de PowerPoint</vt:lpstr>
      <vt:lpstr>Diferencia entre QA, QC y testing</vt:lpstr>
      <vt:lpstr>Presentación de PowerPoint</vt:lpstr>
      <vt:lpstr>Caso guía para la sesión: sistema de matrícula universitaria</vt:lpstr>
      <vt:lpstr>Actividad en Aula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Zapata Casaverde Richard</dc:creator>
  <cp:lastModifiedBy>Zapata Casaverde Richard</cp:lastModifiedBy>
  <cp:revision>1</cp:revision>
  <dcterms:created xsi:type="dcterms:W3CDTF">2026-04-08T04:39:37Z</dcterms:created>
  <dcterms:modified xsi:type="dcterms:W3CDTF">2026-04-08T05:01:39Z</dcterms:modified>
</cp:coreProperties>
</file>