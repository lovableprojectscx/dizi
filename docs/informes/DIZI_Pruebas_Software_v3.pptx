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Casos por suite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types</c:v>
                  </c:pt>
                  <c:pt idx="1">
                    <c:v>image-utils</c:v>
                  </c:pt>
                  <c:pt idx="2">
                    <c:v>whatsapp</c:v>
                  </c:pt>
                  <c:pt idx="3">
                    <c:v>security (PI)</c:v>
                  </c:pt>
                  <c:pt idx="4">
                    <c:v>error-capture</c:v>
                  </c:pt>
                  <c:pt idx="5">
                    <c:v>utils</c:v>
                  </c:pt>
                  <c:pt idx="6">
                    <c:v>error-page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41</c:v>
                </c:pt>
                <c:pt idx="1">
                  <c:v>6</c:v>
                </c:pt>
                <c:pt idx="2">
                  <c:v>5</c:v>
                </c:pt>
                <c:pt idx="3">
                  <c:v>5</c:v>
                </c:pt>
                <c:pt idx="4">
                  <c:v>4</c:v>
                </c:pt>
                <c:pt idx="5">
                  <c:v>3</c:v>
                </c:pt>
                <c:pt idx="6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Buenas tardes, Mg. Zapata y compañeros. Presentaré el plan de pruebas y aseguramiento de calidad de Dizi, un SaaS multi-tienda de catálogos digitales para comercios peruanos. El trabajo recorre todo el ciclo: Scrum + SDD, código, pruebas unitarias e integración, automatización CI/CD y despliegue.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Dizi resuelve la baja digitalización de los micronegocios: catálogo web responsivo en minutos, pedidos a WhatsApp y Libro de Reclamaciones legal integrado. Nuestro foco en este curso: asegurar que la plataforma sea robusta, segura y de calidad verificable.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Trabajamos Scrum en 4 sprints quincenales; el avance es verificable en las migraciones de BD como código y el registro de versiones V1 a V1.4. La DoD exige pruebas: la calidad no es una fase final, es parte de cada historia. El diseño quedó plasmado en el SDD del informe.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Adoptamos spec-driven development: primero la especificación, luego el código. Cada requisito funcional tiene descripción, actor y criterios de aceptación en formato Given-When-Then. Aquí los cinco primeros: catálogo público, pedido por WhatsApp, formateo de precios, registro por invitación y límites por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cinco restantes concentran el riesgo de negocio y seguridad: la degradación con doble periodo de gracia (3 y 15 días), el aislamiento RLS multi-tenant, la anti-escalación de roles, el Libro de Reclamaciones conforme a INDECOPI y el Bio-Link condicionado al plan. De estos requisitos derivan directamente los casos CP-06 a CP-14.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requisitos no funcionales siguen ISO/IEC 25010 con métricas verificables: seguridad (RLS, HSTS, CSP), rendimiento (TTI menor a 2 segundos en 4G, WebP en cliente, bundle limitado), usabilidad mobile-first, mantenibilidad con tipado estricto y quality gate, y fiabilidad con captura global de errores y degradación graciosa. Cada uno tiene su suite de prueba asociada.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Arquitectura de 3 capas serverless: SPA React distribuida por CDN, Supabase como backend gestionado con PostgreSQL y RLS, y despliegue continuo en Vercel. La seguridad es parte del diseño: RLS multi-tenant, trigger que impide escalar a super_admin, RPCs mínimos y cabeceras HTTP estrictas - y todo esto tiene casos de prueba dedicados.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Nuestra estrategia sigue la pirámide de automatización: base amplia de 61 pruebas unitarias rápidas, 5 de integración sobre la capa de seguridad y 5 E2E de flujos completos. Se complementa con pruebas estáticas, de API, rendimiento y seguridad. Los criterios de salida son objetivos y medibles.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Diseñamos con técnicas formales: partición de equivalencia y valores límite. Ejemplo clave: el borde del periodo de gracia - día 0 y día 3 conservan el plan, el día 4 degrada a semilla. También probamos los bordes de seguridad: RLS e inyección de roles. En total 14 casos CP trazados a requisitos.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Implementamos 66 pruebas con Vitest: 61 unitarias sobre la lógica de negocio (suscripciones, precios, WhatsApp, imágenes WebP, captura de errores) y 5 de integración que validan RLS, el RPC de invitaciones y la mitigación de roles. El 100% pasa en 576 milisegundos. [Mostrar captura de la terminal en verde].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Playwright simulamos al usuario final en un navegador real: publicación del catálogo, registro por invitación (caso válido e inválido), el checkout hacia WhatsApp, el Libro de Reclamaciones de punta a punta y las restricciones del plan gratuito. Cada ejecución genera capturas y video como evidencia.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que producción nunca se rompa, el pipeline en GitHub Actions ejecuta en cada push: instalación limpia, análisis estático, las 66 pruebas con reporte de cobertura, y una compuerta de calidad que bloquea si la cobertura baja del 80%. Vercel solo publica cuando el pipeline aprueba: así materializamos Código → PU/PI → Despliegue.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Medimos la calidad con indicadores objetivos: 66 de 66 casos, 100% de éxito, cobertura medida en cada ejecución del CI, cero defectos críticos abiertos. El despliegue es continuo y seguro: build atómico en Vercel con rollback disponible, migraciones versionadas y smoke test posterior.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conclusión: demostramos que el aseguramiento de calidad es una propiedad del proceso. Gracias a las pruebas y la compuerta de calidad automática, Dizi es un producto confiable, seguro a nivel multi-tenant y tolerante a fallos con degradación amigable. Como mejora proponemos pruebas de mutación, regresión visual y observabilidad. Muchas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 SAN CRISTÓBAL DE HUAMANGA - INGENIERÍA DE SISTEMAS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y Aseguramiento de la Calidad de Software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Integrador Final IS-489</a:t>
            </a:r>
            <a:endParaRPr lang="en-US" sz="18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DIZI - Catálogo Dinámico SaaS multi-tienda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224528" y="3246120"/>
            <a:ext cx="694944" cy="694944"/>
          </a:xfrm>
          <a:prstGeom prst="ellipse">
            <a:avLst/>
          </a:prstGeom>
          <a:solidFill>
            <a:srgbClr val="2A3A7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98264" y="3419856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Estudiante: Jack Franklin Quispe Luján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Docente: Mg. Richard Zapata Casaverde   ·   Semestre 2026-I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y la solución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del producto bajo prueba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4973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35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" y="2011680"/>
            <a:ext cx="3611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Micronegocios peruanos venden por redes sociales de forma desordenada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Precios desactualizados, sin canal formal de pedidos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cumplimiento normativo (Libro de Reclamaciones)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114300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EAF9F4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3716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770" y="149733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435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Solución: Dizi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892040" y="2011680"/>
            <a:ext cx="3611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web propio en minutos (/t/:slug)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 directos a WhatsApp con mensaje autogenerado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Bio-Link, planes por suscripción y Libro de Reclamaciones integrado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7200" y="3657600"/>
            <a:ext cx="1938528" cy="1078992"/>
          </a:xfrm>
          <a:prstGeom prst="roundRect">
            <a:avLst>
              <a:gd name="adj" fmla="val 6780"/>
            </a:avLst>
          </a:prstGeom>
          <a:solidFill>
            <a:srgbClr val="1E2761"/>
          </a:solidFill>
          <a:ln/>
        </p:spPr>
      </p:sp>
      <p:sp>
        <p:nvSpPr>
          <p:cNvPr id="15" name="Text 11"/>
          <p:cNvSpPr/>
          <p:nvPr/>
        </p:nvSpPr>
        <p:spPr>
          <a:xfrm>
            <a:off x="457200" y="373075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roles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530352" y="411480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Visitante público · Dueño de tienda · Superadministrador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2578608" y="3657600"/>
            <a:ext cx="1938528" cy="1078992"/>
          </a:xfrm>
          <a:prstGeom prst="roundRect">
            <a:avLst>
              <a:gd name="adj" fmla="val 6780"/>
            </a:avLst>
          </a:prstGeom>
          <a:solidFill>
            <a:srgbClr val="1E2761"/>
          </a:solidFill>
          <a:ln/>
        </p:spPr>
      </p:sp>
      <p:sp>
        <p:nvSpPr>
          <p:cNvPr id="18" name="Text 14"/>
          <p:cNvSpPr/>
          <p:nvPr/>
        </p:nvSpPr>
        <p:spPr>
          <a:xfrm>
            <a:off x="2578608" y="373075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planes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2651760" y="411480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Semilla · Emprendedor · Pro · Ilimitado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700016" y="3657600"/>
            <a:ext cx="1938528" cy="1078992"/>
          </a:xfrm>
          <a:prstGeom prst="roundRect">
            <a:avLst>
              <a:gd name="adj" fmla="val 6780"/>
            </a:avLst>
          </a:prstGeom>
          <a:solidFill>
            <a:srgbClr val="1E2761"/>
          </a:solidFill>
          <a:ln/>
        </p:spPr>
      </p:sp>
      <p:sp>
        <p:nvSpPr>
          <p:cNvPr id="21" name="Text 17"/>
          <p:cNvSpPr/>
          <p:nvPr/>
        </p:nvSpPr>
        <p:spPr>
          <a:xfrm>
            <a:off x="4700016" y="373075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900" dirty="0"/>
          </a:p>
        </p:txBody>
      </p:sp>
      <p:sp>
        <p:nvSpPr>
          <p:cNvPr id="22" name="Text 18"/>
          <p:cNvSpPr/>
          <p:nvPr/>
        </p:nvSpPr>
        <p:spPr>
          <a:xfrm>
            <a:off x="4773168" y="411480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migraciones SQL versionadas (BD como código)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821424" y="3657600"/>
            <a:ext cx="1938528" cy="1078992"/>
          </a:xfrm>
          <a:prstGeom prst="roundRect">
            <a:avLst>
              <a:gd name="adj" fmla="val 6780"/>
            </a:avLst>
          </a:prstGeom>
          <a:solidFill>
            <a:srgbClr val="1E2761"/>
          </a:solidFill>
          <a:ln/>
        </p:spPr>
      </p:sp>
      <p:sp>
        <p:nvSpPr>
          <p:cNvPr id="24" name="Text 20"/>
          <p:cNvSpPr/>
          <p:nvPr/>
        </p:nvSpPr>
        <p:spPr>
          <a:xfrm>
            <a:off x="6821424" y="373075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900" dirty="0"/>
          </a:p>
        </p:txBody>
      </p:sp>
      <p:sp>
        <p:nvSpPr>
          <p:cNvPr id="25" name="Text 21"/>
          <p:cNvSpPr/>
          <p:nvPr/>
        </p:nvSpPr>
        <p:spPr>
          <a:xfrm>
            <a:off x="6894576" y="411480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producción: Vercel + Supabase Cloud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con Scrum + SDD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sprints quincenales · evidencia en migraciones y versiones del repositorio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938528" cy="2286000"/>
          </a:xfrm>
          <a:prstGeom prst="roundRect">
            <a:avLst>
              <a:gd name="adj" fmla="val 3774"/>
            </a:avLst>
          </a:prstGeom>
          <a:solidFill>
            <a:srgbClr val="EAF9F4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71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09–16 may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Esquema BD, catálogo público, invitaciones, suscripciones, RLS multi-tenant, Libro de Reclamaciones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78608" y="1234440"/>
            <a:ext cx="1938528" cy="2286000"/>
          </a:xfrm>
          <a:prstGeom prst="roundRect">
            <a:avLst>
              <a:gd name="adj" fmla="val 3774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15768" y="1371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15768" y="1691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may–05 jun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15768" y="2011680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Bio-Link con mapa, fondos y tipografía, RPC público endurecido, estadísticas de visitas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0016" y="1234440"/>
            <a:ext cx="1938528" cy="2286000"/>
          </a:xfrm>
          <a:prstGeom prst="roundRect">
            <a:avLst>
              <a:gd name="adj" fmla="val 3774"/>
            </a:avLst>
          </a:prstGeom>
          <a:solidFill>
            <a:srgbClr val="EAF9F4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37176" y="1371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37176" y="1691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11–22 jun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37176" y="2011680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Mitigaciones de seguridad, precios y promociones, ordenamiento de productos, branding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21424" y="1234440"/>
            <a:ext cx="1938528" cy="2286000"/>
          </a:xfrm>
          <a:prstGeom prst="roundRect">
            <a:avLst>
              <a:gd name="adj" fmla="val 3774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58584" y="1371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58584" y="1691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jun–06 jul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58584" y="2011680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superadmin, límites PLG, referidos con vigencia temporal, estabilización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" y="3995928"/>
            <a:ext cx="502920" cy="502920"/>
          </a:xfrm>
          <a:prstGeom prst="ellipse">
            <a:avLst/>
          </a:prstGeom>
          <a:solidFill>
            <a:srgbClr val="2A3A7E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4121658"/>
            <a:ext cx="251460" cy="2514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298448" y="3904488"/>
            <a:ext cx="7269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de Hecho (DoD):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ninguna historia se cierra sin especificación actualizada, casos de prueba diseñados y ejecutados, y despliegue verificado. El SDD documenta arquitectura, requisitos, modelo de datos y seguridad.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funcionales - especificación (1/2)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Spec-Driven: especificaciones versionadas en openspec/ del repositorio · criterios Given-When-Then (Anexo F)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EAF9F4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14300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RF-01</a:t>
            </a:r>
            <a:endParaRPr lang="en-US" sz="12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público por slug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63240" y="114300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 visitante accede sin autenticarse a /t/:slug y ve productos, categorías, logo y paleta del comercio. Dado que la tienda está despublicada (is_published = false), cuando se visita la URL, entonces se muestra 404 / “catálogo desactivo”.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4F7FE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92024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RF-02</a:t>
            </a:r>
            <a:endParaRPr lang="en-US" sz="12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 y enlace de WhatsApp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63240" y="192024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 la URL wa.me con el desglose del carrito codificado (nombres, cantidades, total, datos del cliente: “Juan%20P%C3%A9rez”) y normaliza el teléfono del comercio: “+51 988-777-666” → 51988777666.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EAF9F4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69748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RF-03</a:t>
            </a:r>
            <a:endParaRPr lang="en-US" sz="12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Formateo de precios en soles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63240" y="269748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precio se muestra con prefijo S/ y dos decimales (15.5 → “S/ 15.50”). Si el precio es 0, null o undefined, la tarjeta muestra la leyenda “A consultar”.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4F7FE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347472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RF-04</a:t>
            </a:r>
            <a:endParaRPr lang="en-US" sz="12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solo con invitación válida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63240" y="347472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creación de tiendas exige token del superadmin: vigente, no usado y asociado a un plan; al registrarse se marca used = true. Token vencido/usado (RPC check_invite) → bloquea el registro con “Invitación inválida o expirada”.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457200" y="425196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EAF9F4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425196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RF-05</a:t>
            </a:r>
            <a:endParaRPr lang="en-US" sz="12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Límites de productos según plan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63240" y="425196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plan define un máximo de productos activos (semilla = 20). Dado el límite alcanzado, cuando se intenta agregar el N.º 21 o reactivar uno, entonces se deniega la operación y se invita al upgrade.</a:t>
            </a:r>
            <a:endParaRPr lang="en-US" sz="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funcionales - especificación (2/2)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negocio de suscripción, seguridad y cumplimiento normativo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EAF9F4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14300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RF-06</a:t>
            </a:r>
            <a:endParaRPr lang="en-US" sz="12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Degradación automática y periodos de gracia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63240" y="114300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vencer la suscripción: 3 días de gracia de funciones (GRACE_DAYS) y 15 de diseño (MODEL_GRACE_DAYS). Día 4 → getEffectivePlan degrada a semilla (20 productos, “Modo Limitado”); día 16 → el diseño premium revierte a “minimalista”.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4F7FE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92024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RF-07</a:t>
            </a:r>
            <a:endParaRPr lang="en-US" sz="12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Aislamiento de datos multi-tenant (RLS)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63240" y="192024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comercio accede a datos de otro: políticas Row Level Security por auth.uid() en PostgreSQL. Dado el comerciante A autenticado, cuando consulta productos del comercio B (incluso por API directa), entonces recibe 0 filas.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EAF9F4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69748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RF-08</a:t>
            </a:r>
            <a:endParaRPr lang="en-US" sz="12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Prevención de escalación de privilegios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63240" y="269748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 un atacante que envía role = “super_admin” en los metadatos del registro, cuando la BD procesa el insert, entonces el trigger trg_user_sync_role sobrescribe el rol forzando “store_owner”.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4F7FE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347472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RF-09</a:t>
            </a:r>
            <a:endParaRPr lang="en-US" sz="12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Libro de Reclamaciones (INDECOPI)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63240" y="347472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 público paso a paso (Anexo I) que genera correlativo único inalterable (N° 0001-2026) y ticket digital imprimible; el dueño visualiza, responde y resuelve cada caso en /admin/reclamaciones (plazo 15 días hábiles).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457200" y="425196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EAF9F4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425196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RF-10</a:t>
            </a:r>
            <a:endParaRPr lang="en-US" sz="12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Bio-Link personalizable según plan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63240" y="425196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semilla: máximo 3 enlaces (al guardar el 4.º se bloquea con alerta de upgrade). Plan premium: enlaces ilimitados, tipografía, fondos personalizados y mapa de ubicación (Leaflet) renderizados en el Bio-Link público.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no funcionales (ISO/IEC 25010)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 de calidad del producto con métricas verificables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EAF9F4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14300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RNF-01</a:t>
            </a:r>
            <a:endParaRPr lang="en-US" sz="12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- Confidencialidad e integridad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63240" y="114300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por auth.uid() en tablas críticas (stores, products, reclamaciones); HSTS con max-age ≥ 1 año fuerza HTTPS; CSP restringe scripts a dominios autorizados (Supabase, Leaflet, Google Fonts) mitigando XSS.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4F7FE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92024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RNF-02</a:t>
            </a:r>
            <a:endParaRPr lang="en-US" sz="12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 - Eficiencia temporal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63240" y="192024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público con TTI &lt; 2 s en 4G (1.5 Mbps, RTT 100 ms); imágenes convertidas a WebP en el cliente (máx. 2048 px, ahorro ~80% de ancho de banda); bundle JS inicial ≤ 600 kB con code-splitting y gzip.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EAF9F4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69748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RNF-03</a:t>
            </a:r>
            <a:endParaRPr lang="en-US" sz="12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Usabilidad - Mobile-first y accesibilidad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63240" y="269748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públicas responsivas desde 360 px sin scroll horizontal; objetivos táctiles ≥ 44×44 px (guías iOS/Android); consistencia visual con variables HSL y componentes shadcn/ui en modo claro y oscuro.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4F7FE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347472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RNF-04</a:t>
            </a:r>
            <a:endParaRPr lang="en-US" sz="12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Mantenibilidad - Modularidad y testeabilidad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63240" y="347472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estricto sin “any” en lógica de negocio; modelos derivados de las interfaces Store/Product; el pipeline CI bloquea el merge a main si hay errores de lint o la cobertura unitaria baja de 80% (check-coverage.js).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457200" y="425196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EAF9F4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425196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RNF-05</a:t>
            </a:r>
            <a:endParaRPr lang="en-US" sz="12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Fiabilidad - Tolerancia a fallos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63240" y="425196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globales error y unhandledrejection interceptados por error-capture.ts (buffer con TTL de 5 s); ante un crash de React se muestra la página de contingencia estática de error-page.ts con botón de recarga - nunca pantalla en blanco.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SDD: Arquitectura del sistema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Cliente-servidor serverless de 3 capas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2A3A7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270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1031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TypeScript + Vite 7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 Router · Zustand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v4 + shadcn/ui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026664" y="201168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3291840" y="123444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0" y="1417320"/>
            <a:ext cx="548640" cy="548640"/>
          </a:xfrm>
          <a:prstGeom prst="ellipse">
            <a:avLst/>
          </a:prstGeom>
          <a:solidFill>
            <a:srgbClr val="2A3A7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5544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60520" y="15270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gestionado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474720" y="21031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Supabase: PostgreSQL + Auth + Storage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RPCs SECURITY DEFINER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migraciones versionadas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861304" y="201168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6126480" y="123444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09360" y="1417320"/>
            <a:ext cx="548640" cy="548640"/>
          </a:xfrm>
          <a:prstGeom prst="ellipse">
            <a:avLst/>
          </a:prstGeom>
          <a:solidFill>
            <a:srgbClr val="2A3A7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55448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95160" y="15270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309360" y="21031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Vercel: CDN + funciones /api/seo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Cabeceras de seguridad (CSP, HSTS)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Cloud para datos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EAF9F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3817620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43000" y="3767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de diseño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57200" y="4206240"/>
            <a:ext cx="1938528" cy="502920"/>
          </a:xfrm>
          <a:prstGeom prst="roundRect">
            <a:avLst>
              <a:gd name="adj" fmla="val 14545"/>
            </a:avLst>
          </a:prstGeom>
          <a:solidFill>
            <a:srgbClr val="EAF9F4"/>
          </a:solidFill>
          <a:ln/>
        </p:spPr>
      </p:sp>
      <p:sp>
        <p:nvSpPr>
          <p:cNvPr id="25" name="Text 19"/>
          <p:cNvSpPr/>
          <p:nvPr/>
        </p:nvSpPr>
        <p:spPr>
          <a:xfrm>
            <a:off x="457200" y="4206240"/>
            <a:ext cx="193852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6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multi-tenant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2578608" y="4206240"/>
            <a:ext cx="1938528" cy="502920"/>
          </a:xfrm>
          <a:prstGeom prst="roundRect">
            <a:avLst>
              <a:gd name="adj" fmla="val 14545"/>
            </a:avLst>
          </a:prstGeom>
          <a:solidFill>
            <a:srgbClr val="EAF9F4"/>
          </a:solidFill>
          <a:ln/>
        </p:spPr>
      </p:sp>
      <p:sp>
        <p:nvSpPr>
          <p:cNvPr id="27" name="Text 21"/>
          <p:cNvSpPr/>
          <p:nvPr/>
        </p:nvSpPr>
        <p:spPr>
          <a:xfrm>
            <a:off x="2578608" y="4206240"/>
            <a:ext cx="193852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6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anti-escalación de rol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700016" y="4206240"/>
            <a:ext cx="1938528" cy="502920"/>
          </a:xfrm>
          <a:prstGeom prst="roundRect">
            <a:avLst>
              <a:gd name="adj" fmla="val 14545"/>
            </a:avLst>
          </a:prstGeom>
          <a:solidFill>
            <a:srgbClr val="EAF9F4"/>
          </a:solidFill>
          <a:ln/>
        </p:spPr>
      </p:sp>
      <p:sp>
        <p:nvSpPr>
          <p:cNvPr id="29" name="Text 23"/>
          <p:cNvSpPr/>
          <p:nvPr/>
        </p:nvSpPr>
        <p:spPr>
          <a:xfrm>
            <a:off x="4700016" y="4206240"/>
            <a:ext cx="193852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6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RPCs endurecidos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6821424" y="4206240"/>
            <a:ext cx="1938528" cy="502920"/>
          </a:xfrm>
          <a:prstGeom prst="roundRect">
            <a:avLst>
              <a:gd name="adj" fmla="val 14545"/>
            </a:avLst>
          </a:prstGeom>
          <a:solidFill>
            <a:srgbClr val="EAF9F4"/>
          </a:solidFill>
          <a:ln/>
        </p:spPr>
      </p:sp>
      <p:sp>
        <p:nvSpPr>
          <p:cNvPr id="31" name="Text 25"/>
          <p:cNvSpPr/>
          <p:nvPr/>
        </p:nvSpPr>
        <p:spPr>
          <a:xfrm>
            <a:off x="6821424" y="4206240"/>
            <a:ext cx="193852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6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CSP + HSTS + X-Frame DENY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de pruebas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Pirámide de automatización alineada a ISO/IEC/IEEE 29119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011680" y="1234440"/>
            <a:ext cx="2743200" cy="841248"/>
          </a:xfrm>
          <a:prstGeom prst="roundRect">
            <a:avLst>
              <a:gd name="adj" fmla="val 6522"/>
            </a:avLst>
          </a:prstGeom>
          <a:solidFill>
            <a:srgbClr val="1F4E79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0" y="123444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- Playwright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escenarios de flujo completo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34440" y="2203704"/>
            <a:ext cx="4297680" cy="841248"/>
          </a:xfrm>
          <a:prstGeom prst="roundRect">
            <a:avLst>
              <a:gd name="adj" fmla="val 6522"/>
            </a:avLst>
          </a:prstGeom>
          <a:solidFill>
            <a:srgbClr val="2E6DA4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34440" y="2203704"/>
            <a:ext cx="4297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- Vitest + Supabase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casos: RLS, RPCs, roles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172968"/>
            <a:ext cx="5852160" cy="841248"/>
          </a:xfrm>
          <a:prstGeom prst="roundRect">
            <a:avLst>
              <a:gd name="adj" fmla="val 652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172968"/>
            <a:ext cx="5852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Unitarias - Vitest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 casos sobre la lógica de negocio (src/lib)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37960" y="1234440"/>
            <a:ext cx="2148840" cy="2834640"/>
          </a:xfrm>
          <a:prstGeom prst="roundRect">
            <a:avLst>
              <a:gd name="adj" fmla="val 3404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2084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93408" y="1737360"/>
            <a:ext cx="1874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Estáticas: ESLint + revisión de specs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API: Postman/Newman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Rendimiento: k6 (p95 &lt; 800 ms)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Seguridad: OWASP ZAP + npm audit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Criterios de salida: 100% de casos ejecutados · 0 defectos críticos abiertos · cobertura ≥ 80% en src/lib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casos: caja negra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Partición de equivalencia y análisis de valores límite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periodo de gracia del plan (RF-06, GRACE_DAYS = 3)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627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194560" y="1664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CP-06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Vence hoy</a:t>
            </a:r>
            <a:endParaRPr lang="en-US" sz="11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 plan de pago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627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0" y="1664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CP-07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20116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Último día de gracia</a:t>
            </a:r>
            <a:endParaRPr lang="en-US" sz="11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 plan de pago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5087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627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863840" y="1664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CP-08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20116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 superada</a:t>
            </a:r>
            <a:endParaRPr lang="en-US" sz="11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Degrada a plan semilla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5468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291840"/>
                <a:gridCol w="41148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Entrada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 esperado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CP-02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formatPrice(0)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“A consultar”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CP-05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buildWaUrl('+51 966-123-456', msg)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wa.me/51966123456 con texto codificado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CP-12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Tienda A consulta productos de 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filas (aislamiento RLS)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CP-13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 inyectando rol super_admin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Trigger degrada a store_owner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Resultados: pruebas unitarias y de integración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 4 · ejecución local y en CI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938528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0700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ejecutados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78608" y="1143000"/>
            <a:ext cx="1938528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578608" y="120700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2578608" y="164592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exitosos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0016" y="1143000"/>
            <a:ext cx="1938528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700016" y="120700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576 ms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700016" y="164592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duración de la suite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21424" y="1143000"/>
            <a:ext cx="1938528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821424" y="120700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821424" y="164592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suites de prueba</a:t>
            </a:r>
            <a:endParaRPr lang="en-US" sz="1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57200" y="2331720"/>
          <a:ext cx="493776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5669280" y="2331720"/>
            <a:ext cx="3017520" cy="2423160"/>
          </a:xfrm>
          <a:prstGeom prst="roundRect">
            <a:avLst>
              <a:gd name="adj" fmla="val 3019"/>
            </a:avLst>
          </a:prstGeom>
          <a:solidFill>
            <a:srgbClr val="F4F7FE"/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6949440" y="26060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740" y="2720340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760720" y="315468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 aquí tu captura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con npm run test: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 passed (66) en verde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de sistema E2E (Playwright)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flujos críticos simulados en navegador real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EAF9F4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24358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1357884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1430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E2E-01 · Publicación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931920" y="114300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Dueño publica su catálogo y /t/:slug muestra productos, precios y diseño.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1892808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4F7FE"/>
          </a:solidFill>
          <a:ln/>
        </p:spPr>
      </p:sp>
      <p:sp>
        <p:nvSpPr>
          <p:cNvPr id="10" name="Shape 7"/>
          <p:cNvSpPr/>
          <p:nvPr/>
        </p:nvSpPr>
        <p:spPr>
          <a:xfrm>
            <a:off x="621792" y="19933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" y="2107692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189280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E2E-02 · Registro por invitación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931920" y="1892808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válido crea la tienda con su plan; token vencido bloquea el registro.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2642616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EAF9F4"/>
          </a:solidFill>
          <a:ln/>
        </p:spPr>
      </p:sp>
      <p:sp>
        <p:nvSpPr>
          <p:cNvPr id="15" name="Shape 11"/>
          <p:cNvSpPr/>
          <p:nvPr/>
        </p:nvSpPr>
        <p:spPr>
          <a:xfrm>
            <a:off x="621792" y="27432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28575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264261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E2E-03 · Pedido por WhatsApp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931920" y="264261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Carrito + checkout generan URL wa.me con el mensaje codificado del comercio.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3392424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4F7FE"/>
          </a:solidFill>
          <a:ln/>
        </p:spPr>
      </p:sp>
      <p:sp>
        <p:nvSpPr>
          <p:cNvPr id="20" name="Shape 15"/>
          <p:cNvSpPr/>
          <p:nvPr/>
        </p:nvSpPr>
        <p:spPr>
          <a:xfrm>
            <a:off x="621792" y="34930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3607308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3392424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E2E-04 · Libro de Reclamaciones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3931920" y="3392424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Consumidor registra reclamo (wizard 2 pasos); el dueño lo responde y resuelve.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57200" y="4142232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EAF9F4"/>
          </a:solidFill>
          <a:ln/>
        </p:spPr>
      </p:sp>
      <p:sp>
        <p:nvSpPr>
          <p:cNvPr id="25" name="Shape 19"/>
          <p:cNvSpPr/>
          <p:nvPr/>
        </p:nvSpPr>
        <p:spPr>
          <a:xfrm>
            <a:off x="621792" y="424281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" y="4357116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34440" y="414223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E2E-05 · Restricciones de plan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931920" y="4142232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semilla: funciones premium bloqueadas con invitación a mejorar de plan.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Automatización: pipeline CI/CD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· se ejecuta en cada push y pull request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517904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9264" y="1417320"/>
            <a:ext cx="502920" cy="502920"/>
          </a:xfrm>
          <a:prstGeom prst="ellipse">
            <a:avLst/>
          </a:prstGeom>
          <a:solidFill>
            <a:srgbClr val="2A3A7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994" y="15430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0352" y="199339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+ Node 22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920240" y="16459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2157984" y="1280160"/>
            <a:ext cx="1517904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70048" y="1417320"/>
            <a:ext cx="502920" cy="502920"/>
          </a:xfrm>
          <a:prstGeom prst="ellipse">
            <a:avLst/>
          </a:prstGeom>
          <a:solidFill>
            <a:srgbClr val="2A3A7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778" y="15430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31136" y="199339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ci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621024" y="16459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3858768" y="1280160"/>
            <a:ext cx="1517904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370832" y="1417320"/>
            <a:ext cx="502920" cy="502920"/>
          </a:xfrm>
          <a:prstGeom prst="ellipse">
            <a:avLst/>
          </a:prstGeom>
          <a:solidFill>
            <a:srgbClr val="2A3A7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562" y="15430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31920" y="199339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ESLint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321808" y="16459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4"/>
          <p:cNvSpPr/>
          <p:nvPr/>
        </p:nvSpPr>
        <p:spPr>
          <a:xfrm>
            <a:off x="5559552" y="1280160"/>
            <a:ext cx="1517904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071616" y="1417320"/>
            <a:ext cx="502920" cy="502920"/>
          </a:xfrm>
          <a:prstGeom prst="ellipse">
            <a:avLst/>
          </a:prstGeom>
          <a:solidFill>
            <a:srgbClr val="2A3A7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346" y="154305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32704" y="199339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 + cobertura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022592" y="16459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4" name="Shape 18"/>
          <p:cNvSpPr/>
          <p:nvPr/>
        </p:nvSpPr>
        <p:spPr>
          <a:xfrm>
            <a:off x="7260336" y="1280160"/>
            <a:ext cx="1517904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0" y="1417320"/>
            <a:ext cx="502920" cy="502920"/>
          </a:xfrm>
          <a:prstGeom prst="ellipse">
            <a:avLst/>
          </a:prstGeom>
          <a:solidFill>
            <a:srgbClr val="2A3A7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8130" y="1543050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33488" y="199339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 ≥ 80%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457200" y="292608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EAF9F4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64008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Compuerta de calidad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640080" y="34290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 el merge si: lint falla, alguna prueba falla o la cobertura baja de 80% (check-coverage.js)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solo despliega con pipeline aprobado: Código → PU/PI → Despliegue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4663440" y="292608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4F7FE"/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32" name="Shape 25"/>
          <p:cNvSpPr/>
          <p:nvPr/>
        </p:nvSpPr>
        <p:spPr>
          <a:xfrm>
            <a:off x="6446520" y="31089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0820" y="3223260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846320" y="36118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 aquí tu captura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 .github/workflows/ci.yml o la ejecución verde en la pestaña Actions de GitHub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de calidad y despliegue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basadas en evidencia (ISO/IEC 25010)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9377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9728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Métrica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Objetivo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Casos ejecutados vs. planificados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66/66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Éxito de la suite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100% en 576 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Cobertura en src/lib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80%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Medida en cada CI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Defectos críticos abiertos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0 al cierre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p95 catálogo público (k6)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800 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Escenario definido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Vulnerabilidades altas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npm audit en CI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188720"/>
            <a:ext cx="3017520" cy="3291840"/>
          </a:xfrm>
          <a:prstGeom prst="roundRect">
            <a:avLst>
              <a:gd name="adj" fmla="val 242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97880" y="1371600"/>
            <a:ext cx="502920" cy="502920"/>
          </a:xfrm>
          <a:prstGeom prst="ellipse">
            <a:avLst/>
          </a:prstGeom>
          <a:solidFill>
            <a:srgbClr val="2A3A7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3610" y="1497330"/>
            <a:ext cx="251460" cy="251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3796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897880" y="1965960"/>
            <a:ext cx="2606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Vercel: build atómico con rollback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Cloud: migraciones con supabase db push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test post-despliegue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Cabeceras verificadas (CSP, HSTS)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86384"/>
          </a:xfrm>
          <a:prstGeom prst="roundRect">
            <a:avLst>
              <a:gd name="adj" fmla="val 9302"/>
            </a:avLst>
          </a:prstGeom>
          <a:solidFill>
            <a:srgbClr val="2A3A7E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35024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1458468"/>
            <a:ext cx="246888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188720"/>
            <a:ext cx="7269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calidad es del proceso, no una fase: DoD con pruebas, specs verificables y trazabilidad RF → CP en todo el ciclo.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084832"/>
            <a:ext cx="8229600" cy="786384"/>
          </a:xfrm>
          <a:prstGeom prst="roundRect">
            <a:avLst>
              <a:gd name="adj" fmla="val 9302"/>
            </a:avLst>
          </a:prstGeom>
          <a:solidFill>
            <a:srgbClr val="2A3A7E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2231136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" y="2354580"/>
            <a:ext cx="246888" cy="2468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2084832"/>
            <a:ext cx="7269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verificada por diseño y por prueba: RLS multi-tenant, anti-escalación de roles y RPCs endurecidos con casos dedicados.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2980944"/>
            <a:ext cx="8229600" cy="786384"/>
          </a:xfrm>
          <a:prstGeom prst="roundRect">
            <a:avLst>
              <a:gd name="adj" fmla="val 9302"/>
            </a:avLst>
          </a:prstGeom>
          <a:solidFill>
            <a:srgbClr val="2A3A7E"/>
          </a:solidFill>
          <a:ln/>
        </p:spPr>
      </p:sp>
      <p:sp>
        <p:nvSpPr>
          <p:cNvPr id="12" name="Shape 8"/>
          <p:cNvSpPr/>
          <p:nvPr/>
        </p:nvSpPr>
        <p:spPr>
          <a:xfrm>
            <a:off x="640080" y="3127248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3250692"/>
            <a:ext cx="246888" cy="2468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2980944"/>
            <a:ext cx="7269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como red de seguridad: 66 PU/PI + 5 E2E + pipeline con compuerta de calidad antes de cada despliegue.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pasos: pruebas de mutación (Stryker) · regresión visual · observabilidad (OpenTelemetry) · accesibilidad (axe-core)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 - github.com/lovableprojectscx/Dizi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Dizi - Pruebas y Aseguramiento de la Calidad (IS-489)</dc:title>
  <dc:subject>PptxGenJS Presentation</dc:subject>
  <dc:creator>Jack Franklin Quispe Luján</dc:creator>
  <cp:lastModifiedBy>Jack Franklin Quispe Luján</cp:lastModifiedBy>
  <cp:revision>1</cp:revision>
  <dcterms:created xsi:type="dcterms:W3CDTF">2026-07-09T14:01:47Z</dcterms:created>
  <dcterms:modified xsi:type="dcterms:W3CDTF">2026-07-09T14:01:47Z</dcterms:modified>
</cp:coreProperties>
</file>